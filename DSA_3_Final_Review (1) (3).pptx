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2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279" y="237744"/>
            <a:ext cx="1810512" cy="849703"/>
          </a:xfrm>
          <a:prstGeom prst="roundRect">
            <a:avLst>
              <a:gd name="adj" fmla="val 6457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295" y="365760"/>
            <a:ext cx="1554480" cy="5936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720000">
            <a:off x="88696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720000">
            <a:off x="93268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 rot="720000">
            <a:off x="97840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 rot="720000">
            <a:off x="102412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 rot="720000">
            <a:off x="106984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 rot="720000">
            <a:off x="111556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 rot="720000">
            <a:off x="116128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  •  DSA 3  (25CS2103E)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1828800"/>
            <a:ext cx="9509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Full-Text Search Engine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Suffix-Array Index</a:t>
            </a:r>
            <a:endParaRPr lang="en-US" sz="4600" dirty="0"/>
          </a:p>
        </p:txBody>
      </p:sp>
      <p:sp>
        <p:nvSpPr>
          <p:cNvPr id="13" name="Shape 10"/>
          <p:cNvSpPr/>
          <p:nvPr/>
        </p:nvSpPr>
        <p:spPr>
          <a:xfrm>
            <a:off x="822960" y="3931920"/>
            <a:ext cx="1280160" cy="4114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Testing &amp; Results</a:t>
            </a:r>
            <a:endParaRPr lang="en-US" sz="1700" dirty="0"/>
          </a:p>
        </p:txBody>
      </p:sp>
      <p:pic>
        <p:nvPicPr>
          <p:cNvPr id="15" name="Image 1" descr="/home/claude/icons/users_FFFFFF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22960" y="475488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47365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Krishna – 2520090156      Navaneeth – 2520090218      Chaitanya – 2520090099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•  Section 13  •  A.Y. 2026-2027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Approach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target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30428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60120" y="29718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searchable index over documents that supports substring, prefix &amp; phrase queries with ranked results — faster than naive scanning, more flexible than an inverted index.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55080" y="18288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75120" y="2148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layers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230428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675120" y="29718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array (O(n log² n) construction) plus a Kasai LCP array, searched with LCP-accelerated binary search, then compared against a traditional inverted index.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892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</p:sp>
      <p:pic>
        <p:nvPicPr>
          <p:cNvPr id="16" name="Image 3" descr="/home/claude/icons/workflow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1663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89204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focuses on what comes next: system architecture, implementation, testing, and results.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897380" y="2331720"/>
            <a:ext cx="8284464" cy="27432"/>
          </a:xfrm>
          <a:prstGeom prst="rect">
            <a:avLst/>
          </a:prstGeom>
          <a:solidFill>
            <a:srgbClr val="D7DFEC"/>
          </a:solidFill>
          <a:ln/>
        </p:spPr>
      </p:sp>
      <p:sp>
        <p:nvSpPr>
          <p:cNvPr id="6" name="Shape 3"/>
          <p:cNvSpPr/>
          <p:nvPr/>
        </p:nvSpPr>
        <p:spPr>
          <a:xfrm>
            <a:off x="1485900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7" name="Image 1" descr="/home/claude/icons/upload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68" y="2075688"/>
            <a:ext cx="420624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Layer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document collection and prepares raw text for indexing.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47388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12" name="Image 2" descr="/home/claude/icons/layers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2075688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01568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538728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Build Layer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66160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the suffix array (O(n log² n)) and the Kasai LCP array over the combined text.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008876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17" name="Image 3" descr="/home/claude/icons/search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044" y="2075688"/>
            <a:ext cx="420624" cy="42062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63056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300216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Layer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27648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substring, prefix &amp; phrase queries and runs LCP-accelerated binary search over the index.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770364" y="1874520"/>
            <a:ext cx="822960" cy="822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22" name="Image 4" descr="/home/claude/icons/barchart_00E5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1532" y="2075688"/>
            <a:ext cx="420624" cy="42062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924544" y="2926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9061704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&amp; Output Layer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089136" y="36576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matching positions, ranks by relevance &amp; frequency, and returns results.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54864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documents in, ranked results out — each layer built on the one before it.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 &amp; Environment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210312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settings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2219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Environment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32688" y="287121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0" name="Text 6"/>
          <p:cNvSpPr/>
          <p:nvPr/>
        </p:nvSpPr>
        <p:spPr>
          <a:xfrm>
            <a:off x="1115568" y="276148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or macOS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32688" y="363702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2" name="Text 8"/>
          <p:cNvSpPr/>
          <p:nvPr/>
        </p:nvSpPr>
        <p:spPr>
          <a:xfrm>
            <a:off x="1115568" y="352729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and C++17 toolchain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32688" y="440283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0"/>
          <p:cNvSpPr/>
          <p:nvPr/>
        </p:nvSpPr>
        <p:spPr>
          <a:xfrm>
            <a:off x="1115568" y="429310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 as primary IDE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32688" y="516864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2"/>
          <p:cNvSpPr/>
          <p:nvPr/>
        </p:nvSpPr>
        <p:spPr>
          <a:xfrm>
            <a:off x="1115568" y="505891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 version control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343400" y="182880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36008" y="210312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2" descr="/home/claude/icons/terminal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2219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4636008" y="287121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2" name="Text 17"/>
          <p:cNvSpPr/>
          <p:nvPr/>
        </p:nvSpPr>
        <p:spPr>
          <a:xfrm>
            <a:off x="4818888" y="276148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string &amp; sorting libraries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636008" y="363702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4" name="Text 19"/>
          <p:cNvSpPr/>
          <p:nvPr/>
        </p:nvSpPr>
        <p:spPr>
          <a:xfrm>
            <a:off x="4818888" y="352729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query testing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636008" y="440283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6" name="Text 21"/>
          <p:cNvSpPr/>
          <p:nvPr/>
        </p:nvSpPr>
        <p:spPr>
          <a:xfrm>
            <a:off x="4818888" y="429310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utilities for latency checks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636008" y="516864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8" name="Text 23"/>
          <p:cNvSpPr/>
          <p:nvPr/>
        </p:nvSpPr>
        <p:spPr>
          <a:xfrm>
            <a:off x="4818888" y="5058918"/>
            <a:ext cx="26974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source hosting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046720" y="18288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339328" y="210312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3" descr="/home/claude/icons/folder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222199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00684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8339328" y="287121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4" name="Text 28"/>
          <p:cNvSpPr/>
          <p:nvPr/>
        </p:nvSpPr>
        <p:spPr>
          <a:xfrm>
            <a:off x="8522208" y="276148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 — input document collection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339328" y="363702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6" name="Text 30"/>
          <p:cNvSpPr/>
          <p:nvPr/>
        </p:nvSpPr>
        <p:spPr>
          <a:xfrm>
            <a:off x="8522208" y="352729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/src — suffix array, LCP, search modules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8339328" y="440283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8" name="Text 32"/>
          <p:cNvSpPr/>
          <p:nvPr/>
        </p:nvSpPr>
        <p:spPr>
          <a:xfrm>
            <a:off x="8522208" y="429310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/tests — test cases &amp; validation scripts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8339328" y="5168646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0" name="Text 34"/>
          <p:cNvSpPr/>
          <p:nvPr/>
        </p:nvSpPr>
        <p:spPr>
          <a:xfrm>
            <a:off x="8522208" y="5058918"/>
            <a:ext cx="274320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/results — output logs &amp; metrics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Dataset Preparation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52828" y="2194560"/>
            <a:ext cx="694944" cy="69494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upload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276" y="235000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356616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plain-text documents chosen to represent the full-text search scenario the system targets.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80560" y="18745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93308" y="2194560"/>
            <a:ext cx="694944" cy="69494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filetext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56" y="235000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Format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54880" y="356616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stored as UTF-8 plain text, concatenated with unique sentinel separators to keep suffixes distinguishable per document.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321040" y="18745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733788" y="2194560"/>
            <a:ext cx="694944" cy="69494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listchecks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236" y="235000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595360" y="356616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normalized (whitespace, encoding) and indexed by document boundary so matches can be mapped back to their source document.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pic>
        <p:nvPicPr>
          <p:cNvPr id="21" name="Image 4" descr="/home/claude/icons/triangle-alert_00E5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57784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394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document set used for the submitted build is defined in /data — sizes and counts are reported alongside the final results.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Modules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066544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boxes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7627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Suffix Array Builder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96112" y="303580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sorts all suffixes of the combined document text using the O(n log² n) construction approach.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4361688" y="1828800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2066544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layers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17627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LCP Builder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617720" y="303580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Kasai algorithm over the suffix array to compute the Longest Common Prefix array in linear time.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8083296" y="1828800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39328" y="2066544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search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21762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9328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Engine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339328" y="303580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substring, prefix, and phrase queries using LCP-accelerated binary search over the suffix array.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640080" y="4142232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96112" y="4379976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4" descr="/home/claude/icons/ranking_00E5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48970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6112" y="49834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Module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896112" y="53492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matching suffix positions into document hits and ranks them by relevance &amp; frequency.</a:t>
            </a:r>
            <a:endParaRPr lang="en-US" sz="1080" dirty="0"/>
          </a:p>
        </p:txBody>
      </p:sp>
      <p:sp>
        <p:nvSpPr>
          <p:cNvPr id="25" name="Shape 18"/>
          <p:cNvSpPr/>
          <p:nvPr/>
        </p:nvSpPr>
        <p:spPr>
          <a:xfrm>
            <a:off x="4361688" y="4142232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7720" y="4379976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5" descr="/home/claude/icons/barchart_00E5A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7448" y="448970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7720" y="49834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Module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617720" y="53492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queries against an inverted index baseline and logs latency, index size, and match correctness.</a:t>
            </a:r>
            <a:endParaRPr lang="en-US" sz="1080" dirty="0"/>
          </a:p>
        </p:txBody>
      </p:sp>
      <p:sp>
        <p:nvSpPr>
          <p:cNvPr id="30" name="Shape 22"/>
          <p:cNvSpPr/>
          <p:nvPr/>
        </p:nvSpPr>
        <p:spPr>
          <a:xfrm>
            <a:off x="8083296" y="4142232"/>
            <a:ext cx="34747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39328" y="4379976"/>
            <a:ext cx="493776" cy="493776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2" name="Image 6" descr="/home/claude/icons/terminal_00E5A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9056" y="4489704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39328" y="49834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Interface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8339328" y="53492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query from the command line and prints ranked, ready-to-read results for the user.</a:t>
            </a:r>
            <a:endParaRPr lang="en-US" sz="1080" dirty="0"/>
          </a:p>
        </p:txBody>
      </p:sp>
      <p:sp>
        <p:nvSpPr>
          <p:cNvPr id="35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9199" y="237744"/>
            <a:ext cx="1307592" cy="657633"/>
          </a:xfrm>
          <a:prstGeom prst="roundRect">
            <a:avLst>
              <a:gd name="adj" fmla="val 8343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Implementation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2011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suffix array over the combined document text (O(n log² n)).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2788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LCP array from the suffix array using Kasai’s algorithm.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" y="3566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query, run binary search over the suffix array, using LCP values to skip redundant character comparisons.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range of matching suffixes and map each back to its source document.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5166360"/>
            <a:ext cx="365760" cy="365760"/>
          </a:xfrm>
          <a:prstGeom prst="ellipse">
            <a:avLst/>
          </a:prstGeom>
          <a:solidFill>
            <a:srgbClr val="15305A"/>
          </a:solidFill>
          <a:ln w="15875">
            <a:solidFill>
              <a:srgbClr val="00E5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43000" y="5120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matches by frequency &amp; relevance and return the result list.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15305A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3" name="Image 1" descr="/home/claude/icons/slidershorizontal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965960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8952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Parameters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040880" y="260604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26" name="Text 22"/>
          <p:cNvSpPr/>
          <p:nvPr/>
        </p:nvSpPr>
        <p:spPr>
          <a:xfrm>
            <a:off x="704088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001000" y="2587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the combined document text (all documents concatenated with sentinels)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040880" y="3392424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29" name="Text 25"/>
          <p:cNvSpPr/>
          <p:nvPr/>
        </p:nvSpPr>
        <p:spPr>
          <a:xfrm>
            <a:off x="7040880" y="33924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SA[]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001000" y="3374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 — indices of suffixes of the text, sorted lexicographically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040880" y="4178808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32" name="Text 28"/>
          <p:cNvSpPr/>
          <p:nvPr/>
        </p:nvSpPr>
        <p:spPr>
          <a:xfrm>
            <a:off x="7040880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LCP[]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00100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Prefix between each pair of lexicographically adjacent suffixes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7040880" y="496519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0E5A0"/>
          </a:solidFill>
          <a:ln/>
        </p:spPr>
      </p:sp>
      <p:sp>
        <p:nvSpPr>
          <p:cNvPr id="35" name="Text 31"/>
          <p:cNvSpPr/>
          <p:nvPr/>
        </p:nvSpPr>
        <p:spPr>
          <a:xfrm>
            <a:off x="7040880" y="4965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8001000" y="49469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 length — bounds the comparisons per binary-search step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3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METHOD USED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— Suffix Array &amp; LCP Array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0E1E36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82880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15305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057400"/>
            <a:ext cx="5257800" cy="228600"/>
          </a:xfrm>
          <a:prstGeom prst="rect">
            <a:avLst/>
          </a:prstGeom>
          <a:solidFill>
            <a:srgbClr val="15305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build_suffix_array(text)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length(text)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suffixes ← [i for i in 0..n-1]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← initial char ranks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← 1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k &lt; n: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 suffixes by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(rank[i], rank[i+k] or -1)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recompute rank[] from order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 ← k * 2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suffixes   # O(n log² n)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0E1E36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182880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5305A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2057400"/>
            <a:ext cx="5303520" cy="228600"/>
          </a:xfrm>
          <a:prstGeom prst="rect">
            <a:avLst/>
          </a:prstGeom>
          <a:solidFill>
            <a:srgbClr val="15305A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kasai_lcp(text, SA)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2423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length(SA)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rank[SA[i]] ← i  for all i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lcp ← array of size n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← 0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0..n-1: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rank[i] &gt; 0: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← SA[rank[i]-1]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text[i+h]==text[j+h]: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 ← h + 1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lcp[rank[i]] ← h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h&gt;0: h ← h - 1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lcp        # O(n)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METHOD USED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— LCP-Accelerated Search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0E1E36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783080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15305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002536"/>
            <a:ext cx="6400800" cy="219456"/>
          </a:xfrm>
          <a:prstGeom prst="rect">
            <a:avLst/>
          </a:prstGeom>
          <a:solidFill>
            <a:srgbClr val="15305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830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search(text, SA, LCP, pattern)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359152"/>
            <a:ext cx="5989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← 0, hi ← n - 1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result_range ← empty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 &lt;= hi: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 ← (lo + hi) / 2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suffix ← text[SA[mid] ..]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use LCP to skip already-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matched prefix length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cmp ← compare(pattern,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suffix, skip=lcp_hint)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cmp == 0: mark match,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expand range left/right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cmp &lt; 0: hi ← mid-1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         lo ← mid+1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result_range  # SA slice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1783080"/>
            <a:ext cx="4251960" cy="4526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pic>
        <p:nvPicPr>
          <p:cNvPr id="11" name="Image 1" descr="/home/claude/icons/zap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1031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LCP Helps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589520" y="281635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4" name="Text 10"/>
          <p:cNvSpPr/>
          <p:nvPr/>
        </p:nvSpPr>
        <p:spPr>
          <a:xfrm>
            <a:off x="7799832" y="2670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binary search re-compares full prefixes at every step.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589520" y="363931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6" name="Text 12"/>
          <p:cNvSpPr/>
          <p:nvPr/>
        </p:nvSpPr>
        <p:spPr>
          <a:xfrm>
            <a:off x="7799832" y="34930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values tell us how much of the prefix is already known to match between neighbouring suffixes.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589520" y="446227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8" name="Text 14"/>
          <p:cNvSpPr/>
          <p:nvPr/>
        </p:nvSpPr>
        <p:spPr>
          <a:xfrm>
            <a:off x="7799832" y="431596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can skip that known-matching portion, cutting redundant character checks.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589520" y="5285232"/>
            <a:ext cx="82296" cy="8229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0" name="Text 16"/>
          <p:cNvSpPr/>
          <p:nvPr/>
        </p:nvSpPr>
        <p:spPr>
          <a:xfrm>
            <a:off x="7799832" y="51389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fewer comparisons per query as pattern length and dataset size grow.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0312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listchecks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23113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 Tests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914400" y="2944368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0" name="Text 6"/>
          <p:cNvSpPr/>
          <p:nvPr/>
        </p:nvSpPr>
        <p:spPr>
          <a:xfrm>
            <a:off x="1097280" y="28254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queries return every true occurrence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14400" y="3703320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2" name="Text 8"/>
          <p:cNvSpPr/>
          <p:nvPr/>
        </p:nvSpPr>
        <p:spPr>
          <a:xfrm>
            <a:off x="1097280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queries match all words with that prefix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14400" y="4462272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4" name="Text 10"/>
          <p:cNvSpPr/>
          <p:nvPr/>
        </p:nvSpPr>
        <p:spPr>
          <a:xfrm>
            <a:off x="1097280" y="4343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queries respect word order across matches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14400" y="5221224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51023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empty query, full-text match, no match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48056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210312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2" descr="/home/claude/icons/barchart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23113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Tests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4754880" y="2944368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2" name="Text 17"/>
          <p:cNvSpPr/>
          <p:nvPr/>
        </p:nvSpPr>
        <p:spPr>
          <a:xfrm>
            <a:off x="4937760" y="28254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latency measured per query type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3703320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4" name="Text 19"/>
          <p:cNvSpPr/>
          <p:nvPr/>
        </p:nvSpPr>
        <p:spPr>
          <a:xfrm>
            <a:off x="4937760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build time measured against input size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754880" y="4462272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6" name="Text 21"/>
          <p:cNvSpPr/>
          <p:nvPr/>
        </p:nvSpPr>
        <p:spPr>
          <a:xfrm>
            <a:off x="4937760" y="4343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index size tracked as documents scale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754880" y="5221224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28" name="Text 23"/>
          <p:cNvSpPr/>
          <p:nvPr/>
        </p:nvSpPr>
        <p:spPr>
          <a:xfrm>
            <a:off x="4937760" y="51023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logged for direct comparison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32104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595360" y="210312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3" descr="/home/claude/icons/compare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2231136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8116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Tests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8595360" y="2944368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34" name="Text 28"/>
          <p:cNvSpPr/>
          <p:nvPr/>
        </p:nvSpPr>
        <p:spPr>
          <a:xfrm>
            <a:off x="8778240" y="28254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 set run on the inverted-index baseline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595360" y="3703320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36" name="Text 30"/>
          <p:cNvSpPr/>
          <p:nvPr/>
        </p:nvSpPr>
        <p:spPr>
          <a:xfrm>
            <a:off x="8778240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sets checked for equivalence with the suffix-array output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595360" y="4462272"/>
            <a:ext cx="73152" cy="73152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38" name="Text 32"/>
          <p:cNvSpPr/>
          <p:nvPr/>
        </p:nvSpPr>
        <p:spPr>
          <a:xfrm>
            <a:off x="8778240" y="4343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index size compared side by side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 ·  7.7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 / Final Output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86674"/>
            <a:ext cx="5120640" cy="408494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Query Flow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743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17320" y="27157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input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417320" y="2971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--pattern "suffix array" --mode phrase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35387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17320" y="35112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lookup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417320" y="37673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LCP-accelerated binary search over SA[]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4400" y="43342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17320" y="43068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found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417320" y="45628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Suffix positions mapped to source documents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4400" y="51297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51023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417320" y="5358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list ordered by relevance &amp; frequency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Suffix Array Compares to Inverted Index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gauge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2037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Latency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return results for substring, prefix &amp; phrase queries, measured for both structures on the same query set.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55080" y="182880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11112" y="208483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database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2037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Size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62940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 of the suffix + LCP arrays vs. the inverted index, as document count grows.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7033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96112" y="395935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zap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0782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9044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Efficiency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1440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comparisons performed per query, with and without LCP acceleration.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55080" y="370332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11112" y="3959352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4" descr="/home/claude/icons/layers_00E5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07822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39044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Coverage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62940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query types (substring / prefix / phrase) each structure supports natively vs. with extra work.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EF3FA"/>
          </a:solidFill>
          <a:ln/>
        </p:spPr>
      </p:sp>
      <p:sp>
        <p:nvSpPr>
          <p:cNvPr id="26" name="Text 19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this section with your measured numbers before the review — the structure above is ready to hold them.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9199" y="237744"/>
            <a:ext cx="1307592" cy="657633"/>
          </a:xfrm>
          <a:prstGeom prst="roundRect">
            <a:avLst>
              <a:gd name="adj" fmla="val 8343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Approach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5305A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103120"/>
            <a:ext cx="530352" cy="530352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8" name="Image 1" descr="/home/claude/icons/rocket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23113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914400" y="294436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1" name="Text 7"/>
          <p:cNvSpPr/>
          <p:nvPr/>
        </p:nvSpPr>
        <p:spPr>
          <a:xfrm>
            <a:off x="1097280" y="28254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 handles substring, prefix &amp; phrase queries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14400" y="390448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3" name="Text 9"/>
          <p:cNvSpPr/>
          <p:nvPr/>
        </p:nvSpPr>
        <p:spPr>
          <a:xfrm>
            <a:off x="1097280" y="378561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acceleration cuts redundant comparisons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14400" y="486460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Text 11"/>
          <p:cNvSpPr/>
          <p:nvPr/>
        </p:nvSpPr>
        <p:spPr>
          <a:xfrm>
            <a:off x="1097280" y="4745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sorted-array structure is simple to reason about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8056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5305A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2103120"/>
            <a:ext cx="530352" cy="530352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8" name="Image 2" descr="/home/claude/icons/triangle-alert_0B1F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2311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4754880" y="294436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Text 16"/>
          <p:cNvSpPr/>
          <p:nvPr/>
        </p:nvSpPr>
        <p:spPr>
          <a:xfrm>
            <a:off x="4937760" y="28254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log² n) build cost vs. faster linear-time alternatives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390448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3" name="Text 18"/>
          <p:cNvSpPr/>
          <p:nvPr/>
        </p:nvSpPr>
        <p:spPr>
          <a:xfrm>
            <a:off x="4937760" y="378561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structure — rebuilding is needed for new documents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754880" y="486460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5" name="Text 20"/>
          <p:cNvSpPr/>
          <p:nvPr/>
        </p:nvSpPr>
        <p:spPr>
          <a:xfrm>
            <a:off x="4937760" y="4745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can still win on pure keyword lookup speed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32104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5305A"/>
          </a:solidFill>
          <a:ln/>
        </p:spPr>
      </p:sp>
      <p:sp>
        <p:nvSpPr>
          <p:cNvPr id="27" name="Shape 22"/>
          <p:cNvSpPr/>
          <p:nvPr/>
        </p:nvSpPr>
        <p:spPr>
          <a:xfrm>
            <a:off x="8595360" y="2103120"/>
            <a:ext cx="530352" cy="530352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28" name="Image 3" descr="/home/claude/icons/compare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2231136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81160" y="21031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Comparison Shows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8595360" y="294436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1" name="Text 25"/>
          <p:cNvSpPr/>
          <p:nvPr/>
        </p:nvSpPr>
        <p:spPr>
          <a:xfrm>
            <a:off x="8778240" y="28254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structure is faster, and by how much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595360" y="390448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3" name="Text 27"/>
          <p:cNvSpPr/>
          <p:nvPr/>
        </p:nvSpPr>
        <p:spPr>
          <a:xfrm>
            <a:off x="8778240" y="378561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query types each structure handles natively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595360" y="4864608"/>
            <a:ext cx="73152" cy="7315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5" name="Text 29"/>
          <p:cNvSpPr/>
          <p:nvPr/>
        </p:nvSpPr>
        <p:spPr>
          <a:xfrm>
            <a:off x="8778240" y="4745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trade-off is worth it for this use case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3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Implementation Demonstrates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9339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8288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suffix array + Kasai LCP array indexing pipeline was implemented end to end.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77063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6060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index structure supports substring, prefix, and phrase queries with ranked output.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54787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3832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LCP-accelerated binary search measurably reduces redundant character comparisons.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4325112"/>
            <a:ext cx="128016" cy="128016"/>
          </a:xfrm>
          <a:prstGeom prst="ellipse">
            <a:avLst/>
          </a:prstGeom>
          <a:solidFill>
            <a:srgbClr val="049268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1605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testing against an inverted index clarifies where each approach is stronger.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pic>
        <p:nvPicPr>
          <p:cNvPr id="14" name="Image 1" descr="/home/claude/icons/lightbulb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33095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50749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suffix-array approach delivers flexible, unified full-text search — with clear, measurable trade-offs against a traditional inverted index.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Work Can Go Next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34540" y="21945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1" descr="/home/claude/icons/scale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988" y="235000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36118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larger, more diverse document collections and track how build time and query latency change with size.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8056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75020" y="21945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2" descr="/home/claude/icons/search_00E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468" y="235000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800600" y="36118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ranking (TF-IDF style weighting) and support for fuzzy or approximate matching.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3210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101600" dist="25400" dir="5400000" algn="bl" rotWithShape="0">
              <a:srgbClr val="1A1A1A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715500" y="21945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icons/wrench_00E5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948" y="235000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641080" y="36118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linear-time suffix array construction and support for incremental, dynamic updates.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365760"/>
            <a:ext cx="1051560" cy="401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49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7680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9202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Kasai, T., Lee, G., Arimura, H., Arikawa, S., &amp; Park, K. (2001). Linear-Time Longest-Common-Prefix Computation in Suffix Arrays and Its Applications. CPM 2001.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697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Manber, U., &amp; Myers, G. (1993). Suffix Arrays: A New Method for On-Line String Searches. SIAM Journal on Computing.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4747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H., Leiserson, C. E., Rivest, R. L., &amp; Stein, C. Introduction to Algorithms (String Matching &amp; Suffix Structures chapters).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2976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2519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Manning, C. D., Raghavan, P., &amp; Schütze, H. Introduction to Information Retrieval (Inverted Index chapters).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5074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0292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 — Data Structures and Algorithms 3 (25CS2103E), Section 13.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— FULL-TEXT SEARCH ENGINE ON A SUFFIX-ARRAY INDEX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279" y="237744"/>
            <a:ext cx="1810512" cy="849703"/>
          </a:xfrm>
          <a:prstGeom prst="roundRect">
            <a:avLst>
              <a:gd name="adj" fmla="val 6457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asse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295" y="365760"/>
            <a:ext cx="1554480" cy="5936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720000">
            <a:off x="88696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720000">
            <a:off x="93268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 rot="720000">
            <a:off x="97840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 rot="720000">
            <a:off x="102412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 rot="720000">
            <a:off x="106984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 rot="720000">
            <a:off x="11155680" y="-457200"/>
            <a:ext cx="18288" cy="777240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 rot="720000">
            <a:off x="11612880" y="-457200"/>
            <a:ext cx="18288" cy="7772400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15305A"/>
          </a:solidFill>
          <a:ln w="25400">
            <a:solidFill>
              <a:srgbClr val="00E5A0"/>
            </a:solidFill>
            <a:prstDash val="solid"/>
          </a:ln>
        </p:spPr>
      </p:sp>
      <p:pic>
        <p:nvPicPr>
          <p:cNvPr id="12" name="Image 1" descr="/home/claude/icons/question_00E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28" y="16002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822960" y="3611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55768" y="4343400"/>
            <a:ext cx="128016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Engine on a Suffix-Array Index — Final Review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3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•  Section 13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Office PowerPoint</Application>
  <PresentationFormat>Widescreen</PresentationFormat>
  <Paragraphs>272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Moram Navaneeth</cp:lastModifiedBy>
  <cp:revision>2</cp:revision>
  <dcterms:created xsi:type="dcterms:W3CDTF">2026-09-19T05:14:16Z</dcterms:created>
  <dcterms:modified xsi:type="dcterms:W3CDTF">2026-10-12T05:51:46Z</dcterms:modified>
</cp:coreProperties>
</file>